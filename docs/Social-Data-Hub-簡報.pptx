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-1828800"/>
            <a:ext cx="82296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095" y="3200400"/>
            <a:ext cx="7315200" cy="7315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822960"/>
            <a:ext cx="91440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7200" dirty="0"/>
          </a:p>
        </p:txBody>
      </p:sp>
      <p:sp>
        <p:nvSpPr>
          <p:cNvPr id="7" name="Text 3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一站整合 </a:t>
            </a:r>
            <a:pPr indent="0" marL="0">
              <a:buNone/>
            </a:pPr>
            <a:r>
              <a:rPr lang="en-US" sz="2400" b="1" dirty="0">
                <a:solidFill>
                  <a:srgbClr val="FF4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pPr indent="0" marL="0">
              <a:buNone/>
            </a:pPr>
            <a:r>
              <a:rPr lang="en-US" sz="24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pPr indent="0" marL="0">
              <a:buNone/>
            </a:pPr>
            <a:r>
              <a:rPr lang="en-US" sz="24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240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pPr indent="0" marL="0">
              <a:buNone/>
            </a:pPr>
            <a:r>
              <a:rPr lang="en-US" sz="2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數據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讓行銷團隊不再為社群報表手動複製貼上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31520" y="5212080"/>
            <a:ext cx="45720" cy="914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 · 商務提案版本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多租戶 · 自架部署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-914400"/>
            <a:ext cx="6400800" cy="6400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行銷團隊每天都在做的「低價值重工」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394960" cy="182880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011680"/>
            <a:ext cx="73152" cy="182880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手動複製貼上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2971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IG / FB / TikTok 後台一則一則抄到 Excel,每週重複。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2011680"/>
            <a:ext cx="5394960" cy="182880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2011680"/>
            <a:ext cx="73152" cy="182880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317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資料永遠不即時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537960" y="2971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等到做好報表,事件已經過去一週,錯過調整時機。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5394960" cy="182880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069080"/>
            <a:ext cx="73152" cy="182880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多客戶帳號難管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6868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代操 5 家客戶就要維護 5 套試算表格式,換手災難。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69080"/>
            <a:ext cx="5394960" cy="182880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17920" y="4069080"/>
            <a:ext cx="73152" cy="182880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38912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門檻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653796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要串 Meta/TikTok 官方 API?一般行銷人員根本無從下手。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 → </a:t>
            </a:r>
            <a:pPr indent="0" marL="0">
              <a:buNone/>
            </a:pPr>
            <a:r>
              <a:rPr lang="en-US" sz="1400" i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行銷人花 70% 時間在「搬資料」,剩 30% 才是「想策略」。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1828800"/>
            <a:ext cx="7315200" cy="7315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一鍵連結帳號,</a:t>
            </a:r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數據自動流進你的 Google Sheet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終端使用者不需要申請 Developer App,也不用面對 API 文件。像登入 Google 一樣點一次「允許」,Social Data Hub 就會每天自動把貼文表現拉進 Google 試算表。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033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連結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8872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授權,3 步驟綁定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自動排程更新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188720" y="4873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1-365 天刷新週期,彈性設定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44068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統一數據格式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18872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三平台合併為同一張 Sheet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046720" y="2011680"/>
            <a:ext cx="3840480" cy="429768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046720" y="2011680"/>
            <a:ext cx="384048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3210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可取代的人工工時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321040" y="2651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400" dirty="0"/>
          </a:p>
        </p:txBody>
      </p:sp>
      <p:sp>
        <p:nvSpPr>
          <p:cNvPr id="21" name="Shape 15"/>
          <p:cNvSpPr/>
          <p:nvPr/>
        </p:nvSpPr>
        <p:spPr>
          <a:xfrm>
            <a:off x="8321040" y="3977640"/>
            <a:ext cx="3291840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32104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支援平台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8755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321040" y="4864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刷新週期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875520" y="4864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1-365 天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321040" y="5522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串接難度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875520" y="5522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2286000"/>
            <a:ext cx="82296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 Social Data Hub?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02920" y="1920240"/>
            <a:ext cx="2697480" cy="402336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269748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331720"/>
            <a:ext cx="822960" cy="822960"/>
          </a:xfrm>
          <a:prstGeom prst="ellipse">
            <a:avLst/>
          </a:prstGeom>
          <a:solidFill>
            <a:srgbClr val="1C244E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14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一鍵綁定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3822192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023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用戶點「允許」就完成連結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IG / FB / TikTok 三大平台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不需自行申請 Developer App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10712" y="1920240"/>
            <a:ext cx="2697480" cy="402336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0712" y="1920240"/>
            <a:ext cx="2697480" cy="914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30752" y="2331720"/>
            <a:ext cx="822960" cy="822960"/>
          </a:xfrm>
          <a:prstGeom prst="ellipse">
            <a:avLst/>
          </a:prstGeom>
          <a:solidFill>
            <a:srgbClr val="1C244E"/>
          </a:solidFill>
          <a:ln w="12700">
            <a:solidFill>
              <a:srgbClr val="B14B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514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39312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排程自動更新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639312" y="3822192"/>
            <a:ext cx="548640" cy="0"/>
          </a:xfrm>
          <a:prstGeom prst="line">
            <a:avLst/>
          </a:prstGeom>
          <a:noFill/>
          <a:ln w="25400">
            <a:solidFill>
              <a:srgbClr val="B14B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39312" y="4023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1-365 天刷新頻率自由設定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過期自動續期 (TikTok)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手動觸發即時同步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18504" y="1920240"/>
            <a:ext cx="2697480" cy="402336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18504" y="1920240"/>
            <a:ext cx="2697480" cy="91440"/>
          </a:xfrm>
          <a:prstGeom prst="rect">
            <a:avLst/>
          </a:prstGeom>
          <a:solidFill>
            <a:srgbClr val="39FF9F"/>
          </a:solidFill>
          <a:ln w="12700">
            <a:solidFill>
              <a:srgbClr val="39FF9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38544" y="2331720"/>
            <a:ext cx="822960" cy="822960"/>
          </a:xfrm>
          <a:prstGeom prst="ellipse">
            <a:avLst/>
          </a:prstGeom>
          <a:solidFill>
            <a:srgbClr val="1C244E"/>
          </a:solidFill>
          <a:ln w="12700">
            <a:solidFill>
              <a:srgbClr val="39FF9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5146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47104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直連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6547104" y="3822192"/>
            <a:ext cx="548640" cy="0"/>
          </a:xfrm>
          <a:prstGeom prst="line">
            <a:avLst/>
          </a:prstGeom>
          <a:noFill/>
          <a:ln w="25400">
            <a:solidFill>
              <a:srgbClr val="39FF9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47104" y="4023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數據直接寫入你的試算表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保留原生公式與樞紐分析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自動套用統一欄位格式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226296" y="1920240"/>
            <a:ext cx="2697480" cy="402336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226296" y="1920240"/>
            <a:ext cx="2697480" cy="9144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546336" y="2331720"/>
            <a:ext cx="822960" cy="822960"/>
          </a:xfrm>
          <a:prstGeom prst="ellipse">
            <a:avLst/>
          </a:prstGeom>
          <a:solidFill>
            <a:srgbClr val="1C244E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5146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54896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多租戶隔離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9454896" y="3822192"/>
            <a:ext cx="548640" cy="0"/>
          </a:xfrm>
          <a:prstGeom prst="line">
            <a:avLst/>
          </a:prstGeom>
          <a:noFill/>
          <a:ln w="25400">
            <a:solidFill>
              <a:srgbClr val="FF4B9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454896" y="40233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每個客戶獨立帳號與資料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代操機構一個後台管所有客戶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底層保護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914400"/>
            <a:ext cx="6400800" cy="6400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從註冊到收到第一張報表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一次設定,之後永遠自動執行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2194560" cy="32918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377440"/>
            <a:ext cx="219456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685800" y="3703320"/>
            <a:ext cx="45720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註冊帳號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註冊,或用 Google 快速登入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3913632"/>
            <a:ext cx="12801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16352" y="2377440"/>
            <a:ext cx="2194560" cy="32918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16352" y="2377440"/>
            <a:ext cx="2194560" cy="914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99232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400" dirty="0"/>
          </a:p>
        </p:txBody>
      </p:sp>
      <p:sp>
        <p:nvSpPr>
          <p:cNvPr id="18" name="Shape 14"/>
          <p:cNvSpPr/>
          <p:nvPr/>
        </p:nvSpPr>
        <p:spPr>
          <a:xfrm>
            <a:off x="3044952" y="3703320"/>
            <a:ext cx="457200" cy="0"/>
          </a:xfrm>
          <a:prstGeom prst="line">
            <a:avLst/>
          </a:prstGeom>
          <a:noFill/>
          <a:ln w="25400">
            <a:solidFill>
              <a:srgbClr val="B14B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99232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連結社群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2999232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點「連結 Instagram / TikTok」,授權一次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913632"/>
            <a:ext cx="128016" cy="2194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75504" y="2377440"/>
            <a:ext cx="2194560" cy="32918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75504" y="2377440"/>
            <a:ext cx="2194560" cy="9144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358384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4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400" dirty="0"/>
          </a:p>
        </p:txBody>
      </p:sp>
      <p:sp>
        <p:nvSpPr>
          <p:cNvPr id="25" name="Shape 20"/>
          <p:cNvSpPr/>
          <p:nvPr/>
        </p:nvSpPr>
        <p:spPr>
          <a:xfrm>
            <a:off x="5404104" y="3703320"/>
            <a:ext cx="457200" cy="0"/>
          </a:xfrm>
          <a:prstGeom prst="line">
            <a:avLst/>
          </a:prstGeom>
          <a:noFill/>
          <a:ln w="25400">
            <a:solidFill>
              <a:srgbClr val="FF4B9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58384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 Sheet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5358384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貼上 Google Sheet ID 與分頁名稱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913632"/>
            <a:ext cx="128016" cy="21945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534656" y="2377440"/>
            <a:ext cx="2194560" cy="32918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534656" y="2377440"/>
            <a:ext cx="2194560" cy="9144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17536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400" dirty="0"/>
          </a:p>
        </p:txBody>
      </p:sp>
      <p:sp>
        <p:nvSpPr>
          <p:cNvPr id="32" name="Shape 26"/>
          <p:cNvSpPr/>
          <p:nvPr/>
        </p:nvSpPr>
        <p:spPr>
          <a:xfrm>
            <a:off x="7763256" y="3703320"/>
            <a:ext cx="457200" cy="0"/>
          </a:xfrm>
          <a:prstGeom prst="line">
            <a:avLst/>
          </a:prstGeom>
          <a:noFill/>
          <a:ln w="25400">
            <a:solidFill>
              <a:srgbClr val="FFD44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17536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設定排程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7717536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選擇每幾天更新一次 (1-365 天)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3913632"/>
            <a:ext cx="128016" cy="21945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893808" y="2377440"/>
            <a:ext cx="2194560" cy="32918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9893808" y="2377440"/>
            <a:ext cx="2194560" cy="91440"/>
          </a:xfrm>
          <a:prstGeom prst="rect">
            <a:avLst/>
          </a:prstGeom>
          <a:solidFill>
            <a:srgbClr val="39FF9F"/>
          </a:solidFill>
          <a:ln w="12700">
            <a:solidFill>
              <a:srgbClr val="39FF9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076688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9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400" dirty="0"/>
          </a:p>
        </p:txBody>
      </p:sp>
      <p:sp>
        <p:nvSpPr>
          <p:cNvPr id="39" name="Shape 32"/>
          <p:cNvSpPr/>
          <p:nvPr/>
        </p:nvSpPr>
        <p:spPr>
          <a:xfrm>
            <a:off x="10122408" y="3703320"/>
            <a:ext cx="457200" cy="0"/>
          </a:xfrm>
          <a:prstGeom prst="line">
            <a:avLst/>
          </a:prstGeom>
          <a:noFill/>
          <a:ln w="25400">
            <a:solidFill>
              <a:srgbClr val="39FF9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076688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收到數據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10076688" y="4389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自動填滿,隨時開啟即可使用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一次設定 → </a:t>
            </a:r>
            <a:pPr indent="0" marL="0">
              <a:buNone/>
            </a:pPr>
            <a:r>
              <a:rPr lang="en-US" sz="1400" b="1" i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每天自動補充新貼文數據 </a:t>
            </a:r>
            <a:pPr indent="0" marL="0">
              <a:buNone/>
            </a:pPr>
            <a:r>
              <a:rPr lang="en-US" sz="1400" b="1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隨時開 Sheet 就能做報表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-1828800"/>
            <a:ext cx="7315200" cy="7315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端到端系統架構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 · Supabase · 自架 Linux 主機 · Cloudflare 邊緣防護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solidFill>
            <a:srgbClr val="141A3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31720"/>
            <a:ext cx="91440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使用者層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2715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前端 Dashboard  ·  瀏覽器 HTTPS  ·  多租戶登入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9904" y="3154680"/>
            <a:ext cx="0" cy="182880"/>
          </a:xfrm>
          <a:prstGeom prst="line">
            <a:avLst/>
          </a:prstGeom>
          <a:noFill/>
          <a:ln w="25400">
            <a:solidFill>
              <a:srgbClr val="2A356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429000"/>
            <a:ext cx="3383280" cy="1463040"/>
          </a:xfrm>
          <a:prstGeom prst="rect">
            <a:avLst/>
          </a:prstGeom>
          <a:solidFill>
            <a:srgbClr val="141A3A"/>
          </a:solidFill>
          <a:ln w="19050">
            <a:solidFill>
              <a:srgbClr val="B14B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429000"/>
            <a:ext cx="91440" cy="14630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11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邊緣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77240" y="3977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防護 · WAF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Full Strict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 IP 隱藏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89120" y="3429000"/>
            <a:ext cx="3383280" cy="1463040"/>
          </a:xfrm>
          <a:prstGeom prst="rect">
            <a:avLst/>
          </a:prstGeom>
          <a:solidFill>
            <a:srgbClr val="141A3A"/>
          </a:solidFill>
          <a:ln w="19050">
            <a:solidFill>
              <a:srgbClr val="39FF9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389120" y="3429000"/>
            <a:ext cx="91440" cy="1463040"/>
          </a:xfrm>
          <a:prstGeom prst="rect">
            <a:avLst/>
          </a:prstGeom>
          <a:solidFill>
            <a:srgbClr val="39FF9F"/>
          </a:solidFill>
          <a:ln w="12700">
            <a:solidFill>
              <a:srgbClr val="39FF9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611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後端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617720" y="3977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路由與排程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反向代理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0" y="3429000"/>
            <a:ext cx="3383280" cy="1463040"/>
          </a:xfrm>
          <a:prstGeom prst="rect">
            <a:avLst/>
          </a:prstGeom>
          <a:solidFill>
            <a:srgbClr val="141A3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0" y="3429000"/>
            <a:ext cx="91440" cy="1463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611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自架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458200" y="3977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(JWT)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AES-256-GCM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9904" y="4892040"/>
            <a:ext cx="0" cy="182880"/>
          </a:xfrm>
          <a:prstGeom prst="line">
            <a:avLst/>
          </a:prstGeom>
          <a:noFill/>
          <a:ln w="25400">
            <a:solidFill>
              <a:srgbClr val="2A356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8640" y="5212080"/>
            <a:ext cx="2697480" cy="1005840"/>
          </a:xfrm>
          <a:prstGeom prst="rect">
            <a:avLst/>
          </a:prstGeom>
          <a:solidFill>
            <a:srgbClr val="141A3A"/>
          </a:solidFill>
          <a:ln w="19050">
            <a:solidFill>
              <a:srgbClr val="FF4B9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58968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08760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508760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授權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355848" y="5212080"/>
            <a:ext cx="2697480" cy="1005840"/>
          </a:xfrm>
          <a:prstGeom prst="rect">
            <a:avLst/>
          </a:prstGeom>
          <a:solidFill>
            <a:srgbClr val="141A3A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5458968"/>
            <a:ext cx="502920" cy="5029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315968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Pages API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4315968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授權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163056" y="5212080"/>
            <a:ext cx="2697480" cy="1005840"/>
          </a:xfrm>
          <a:prstGeom prst="rect">
            <a:avLst/>
          </a:prstGeom>
          <a:solidFill>
            <a:srgbClr val="141A3A"/>
          </a:solidFill>
          <a:ln w="19050">
            <a:solidFill>
              <a:srgbClr val="B14BFF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5458968"/>
            <a:ext cx="502920" cy="5029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123176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Open API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7123176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授權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970264" y="5212080"/>
            <a:ext cx="2697480" cy="1005840"/>
          </a:xfrm>
          <a:prstGeom prst="rect">
            <a:avLst/>
          </a:prstGeom>
          <a:solidFill>
            <a:srgbClr val="141A3A"/>
          </a:solidFill>
          <a:ln w="19050">
            <a:solidFill>
              <a:srgbClr val="39FF9F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0304" y="5458968"/>
            <a:ext cx="502920" cy="50292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930384" y="5486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API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9930384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授權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1828800"/>
            <a:ext cx="7315200" cy="7315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85800"/>
            <a:ext cx="73152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五層縱深防禦,把客戶資料當自己的看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社群帳號的授權 token 一旦外洩就是災難。我們用五層獨立機制保護它。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6675120" cy="7772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331720"/>
            <a:ext cx="91440" cy="7772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4963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5328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邊緣防禦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920240" y="2715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DDoS / WAF / Rate Limit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82112"/>
            <a:ext cx="6675120" cy="7772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182112"/>
            <a:ext cx="9144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3346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38328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3255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主機防火牆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9202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僅開 443;SSH 走 Tailscale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032504"/>
            <a:ext cx="6675120" cy="7772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032504"/>
            <a:ext cx="91440" cy="777240"/>
          </a:xfrm>
          <a:prstGeom prst="rect">
            <a:avLst/>
          </a:prstGeom>
          <a:solidFill>
            <a:srgbClr val="39FF9F"/>
          </a:solidFill>
          <a:ln w="12700">
            <a:solidFill>
              <a:srgbClr val="39FF9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5800" y="41970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2336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0240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反向代理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920240" y="4416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TLS 終止 · HSTS · 清洗 header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4882896"/>
            <a:ext cx="6675120" cy="7772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4882896"/>
            <a:ext cx="91440" cy="77724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5800" y="5047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08406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920240" y="4956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應用層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920240" y="5266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CORS 白名單 + Zod 驗證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57200" y="5733288"/>
            <a:ext cx="6675120" cy="777240"/>
          </a:xfrm>
          <a:prstGeom prst="rect">
            <a:avLst/>
          </a:prstGeom>
          <a:solidFill>
            <a:srgbClr val="141A3A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7200" y="5733288"/>
            <a:ext cx="91440" cy="777240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85800" y="5897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8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5934456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920240" y="5806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920240" y="6117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多租戶 + Token AES-256-GCM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7498080" y="2331720"/>
            <a:ext cx="438912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49808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GUARANTEES</a:t>
            </a:r>
            <a:endParaRPr lang="en-US" sz="11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063240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092440" y="3017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絕不明文落地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8092440" y="33649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加密後才寫入 DB</a:t>
            </a:r>
            <a:endParaRPr lang="en-US" sz="11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931920"/>
            <a:ext cx="384048" cy="38404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092440" y="38862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租戶資料強制隔離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8092440" y="42336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在資料庫層阻擋</a:t>
            </a:r>
            <a:endParaRPr lang="en-US" sz="11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4800600"/>
            <a:ext cx="384048" cy="38404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092440" y="47548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 IP 不外露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092440" y="51023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Proxy 模式隱藏</a:t>
            </a:r>
            <a:endParaRPr lang="en-US" sz="11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5669280"/>
            <a:ext cx="384048" cy="38404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8092440" y="5623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每日自動備份</a:t>
            </a:r>
            <a:endParaRPr lang="en-US" sz="1400" dirty="0"/>
          </a:p>
        </p:txBody>
      </p:sp>
      <p:sp>
        <p:nvSpPr>
          <p:cNvPr id="51" name="Text 39"/>
          <p:cNvSpPr/>
          <p:nvPr/>
        </p:nvSpPr>
        <p:spPr>
          <a:xfrm>
            <a:off x="8092440" y="5971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本地 + 異地保存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8716975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-1828800"/>
            <a:ext cx="82296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2286000"/>
            <a:ext cx="8229600" cy="8229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1371600"/>
            <a:ext cx="91440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讓數據自動流動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73152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從下個禮拜開始,</a:t>
            </a:r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不再手動做社群報表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" y="3886200"/>
            <a:ext cx="3611880" cy="1737360"/>
          </a:xfrm>
          <a:prstGeom prst="rect">
            <a:avLst/>
          </a:prstGeom>
          <a:solidFill>
            <a:srgbClr val="141A3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1520" y="3886200"/>
            <a:ext cx="361188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605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4142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免費試用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005840" y="4754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天完整功能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不需信用卡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26280" y="3886200"/>
            <a:ext cx="3611880" cy="1737360"/>
          </a:xfrm>
          <a:prstGeom prst="rect">
            <a:avLst/>
          </a:prstGeom>
          <a:solidFill>
            <a:srgbClr val="141A3A"/>
          </a:solidFill>
          <a:ln w="19050">
            <a:solidFill>
              <a:srgbClr val="B14B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26280" y="3886200"/>
            <a:ext cx="3611880" cy="73152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605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4142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客製導入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4800600" y="4754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協助設定 Sheet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既有報表轉換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321040" y="3886200"/>
            <a:ext cx="3611880" cy="1737360"/>
          </a:xfrm>
          <a:prstGeom prst="rect">
            <a:avLst/>
          </a:prstGeom>
          <a:solidFill>
            <a:srgbClr val="141A3A"/>
          </a:solidFill>
          <a:ln w="19050">
            <a:solidFill>
              <a:srgbClr val="FF4B9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21040" y="3886200"/>
            <a:ext cx="3611880" cy="73152"/>
          </a:xfrm>
          <a:prstGeom prst="rect">
            <a:avLst/>
          </a:prstGeom>
          <a:solidFill>
            <a:srgbClr val="FF4B9C"/>
          </a:solidFill>
          <a:ln w="12700">
            <a:solidFill>
              <a:srgbClr val="FF4B9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1605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89720" y="4142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企業方案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595360" y="4754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獨立環境部署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保障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5943600"/>
            <a:ext cx="10698480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61722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6144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datatsukiyo.org</a:t>
            </a:r>
            <a:endParaRPr lang="en-US" sz="14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617220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49240" y="6144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hjcaieng@gmail.com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8259775" y="6172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Data Hub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Data Hub — 產品簡介</dc:title>
  <dc:subject>PptxGenJS Presentation</dc:subject>
  <dc:creator>Social Data Hub</dc:creator>
  <cp:lastModifiedBy>Social Data Hub</cp:lastModifiedBy>
  <cp:revision>1</cp:revision>
  <dcterms:created xsi:type="dcterms:W3CDTF">2026-04-11T09:28:24Z</dcterms:created>
  <dcterms:modified xsi:type="dcterms:W3CDTF">2026-04-11T09:28:24Z</dcterms:modified>
</cp:coreProperties>
</file>